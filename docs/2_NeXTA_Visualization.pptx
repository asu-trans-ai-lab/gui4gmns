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2" r:id="rId3"/>
    <p:sldId id="258" r:id="rId5"/>
    <p:sldId id="260" r:id="rId6"/>
    <p:sldId id="264" r:id="rId7"/>
    <p:sldId id="263" r:id="rId8"/>
    <p:sldId id="368" r:id="rId9"/>
    <p:sldId id="266" r:id="rId10"/>
    <p:sldId id="369" r:id="rId11"/>
    <p:sldId id="370" r:id="rId12"/>
    <p:sldId id="371" r:id="rId13"/>
    <p:sldId id="373" r:id="rId14"/>
    <p:sldId id="374" r:id="rId15"/>
    <p:sldId id="376" r:id="rId16"/>
    <p:sldId id="377" r:id="rId17"/>
    <p:sldId id="378" r:id="rId18"/>
    <p:sldId id="379" r:id="rId19"/>
    <p:sldId id="380" r:id="rId20"/>
    <p:sldId id="383" r:id="rId21"/>
    <p:sldId id="386" r:id="rId22"/>
    <p:sldId id="387" r:id="rId23"/>
    <p:sldId id="388" r:id="rId24"/>
    <p:sldId id="389" r:id="rId25"/>
    <p:sldId id="391" r:id="rId26"/>
    <p:sldId id="392" r:id="rId27"/>
    <p:sldId id="396" r:id="rId28"/>
    <p:sldId id="298" r:id="rId29"/>
    <p:sldId id="342" r:id="rId30"/>
    <p:sldId id="293" r:id="rId31"/>
    <p:sldId id="354" r:id="rId32"/>
    <p:sldId id="355" r:id="rId33"/>
    <p:sldId id="364" r:id="rId3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2A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99" autoAdjust="0"/>
    <p:restoredTop sz="86275" autoAdjust="0"/>
  </p:normalViewPr>
  <p:slideViewPr>
    <p:cSldViewPr>
      <p:cViewPr varScale="1">
        <p:scale>
          <a:sx n="58" d="100"/>
          <a:sy n="58" d="100"/>
        </p:scale>
        <p:origin x="1516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7632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80F95A-BD74-413F-804C-1B9B504520C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225022-2717-4B81-95BD-7472766735F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225022-2717-4B81-95BD-7472766735F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NeXTA will open the network, and display the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File Loading Status window.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225022-2717-4B81-95BD-7472766735F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225022-2717-4B81-95BD-7472766735F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225022-2717-4B81-95BD-7472766735F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225022-2717-4B81-95BD-7472766735F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Click</a:t>
            </a:r>
            <a:r>
              <a:rPr lang="en-US" altLang="zh-CN" baseline="0" dirty="0"/>
              <a:t> on the “Move Network” </a:t>
            </a:r>
            <a:r>
              <a:rPr lang="en-US" altLang="zh-CN" dirty="0"/>
              <a:t>toolbar button.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225022-2717-4B81-95BD-7472766735F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GIS layer</a:t>
            </a:r>
            <a:r>
              <a:rPr lang="en-US" altLang="zh-CN" baseline="0" dirty="0"/>
              <a:t> panel, on the left of the display view, enable users to switch between different layers and show/ hide each layer.</a:t>
            </a:r>
            <a:endParaRPr lang="en-US" altLang="zh-CN" baseline="0" dirty="0"/>
          </a:p>
          <a:p>
            <a:r>
              <a:rPr lang="en-US" altLang="zh-CN" baseline="0" dirty="0"/>
              <a:t>Click one layer on the GIS layer panel , the corresponding layer becomes red when this layer is selected. </a:t>
            </a:r>
            <a:endParaRPr lang="en-US" altLang="zh-CN" baseline="0" dirty="0"/>
          </a:p>
          <a:p>
            <a:r>
              <a:rPr lang="en-US" altLang="zh-CN" baseline="0" dirty="0"/>
              <a:t>Check or uncheck this layer to show the corresponding data items on the display view.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225022-2717-4B81-95BD-7472766735F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Click</a:t>
            </a:r>
            <a:r>
              <a:rPr lang="en-US" altLang="zh-CN" baseline="0" dirty="0"/>
              <a:t> on the “Show Network” </a:t>
            </a:r>
            <a:r>
              <a:rPr lang="en-US" altLang="zh-CN" dirty="0"/>
              <a:t>toolbar button.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225022-2717-4B81-95BD-7472766735F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Click</a:t>
            </a:r>
            <a:r>
              <a:rPr lang="en-US" altLang="zh-CN" baseline="0" dirty="0"/>
              <a:t> on the “Zoom in”/“Zoom Out” </a:t>
            </a:r>
            <a:r>
              <a:rPr lang="en-US" altLang="zh-CN" dirty="0"/>
              <a:t>toolbar button.</a:t>
            </a:r>
            <a:endParaRPr lang="zh-CN" altLang="en-US" dirty="0"/>
          </a:p>
          <a:p>
            <a:r>
              <a:rPr lang="en-US" altLang="zh-CN" dirty="0"/>
              <a:t>You can also roll the mouse</a:t>
            </a:r>
            <a:r>
              <a:rPr lang="en-US" altLang="zh-CN" baseline="0" dirty="0"/>
              <a:t> </a:t>
            </a:r>
            <a:r>
              <a:rPr lang="en-US" altLang="zh-CN" dirty="0"/>
              <a:t>wheel to zoom in and out on the display</a:t>
            </a:r>
            <a:r>
              <a:rPr lang="en-US" altLang="zh-CN" baseline="0" dirty="0"/>
              <a:t> view.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225022-2717-4B81-95BD-7472766735F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Click</a:t>
            </a:r>
            <a:r>
              <a:rPr lang="en-US" altLang="zh-CN" baseline="0" dirty="0"/>
              <a:t> on the “+”/“-” </a:t>
            </a:r>
            <a:r>
              <a:rPr lang="en-US" altLang="zh-CN" dirty="0"/>
              <a:t>button</a:t>
            </a:r>
            <a:r>
              <a:rPr lang="en-US" altLang="zh-CN" baseline="0" dirty="0"/>
              <a:t> in GIS layer panel.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225022-2717-4B81-95BD-7472766735F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lang="en-US" altLang="zh-CN" dirty="0"/>
              <a:t>Click on the "</a:t>
            </a:r>
            <a:r>
              <a:rPr lang="en-US" altLang="zh-CN" dirty="0" err="1"/>
              <a:t>Config</a:t>
            </a:r>
            <a:r>
              <a:rPr lang="en-US" altLang="zh-CN" dirty="0"/>
              <a:t>" button in GIS layer panel to display the “Display</a:t>
            </a:r>
            <a:r>
              <a:rPr lang="en-US" altLang="zh-CN" baseline="0" dirty="0"/>
              <a:t> Configuration</a:t>
            </a:r>
            <a:r>
              <a:rPr lang="en-US" altLang="zh-CN" dirty="0"/>
              <a:t>” dialog;</a:t>
            </a:r>
            <a:endParaRPr lang="en-US" altLang="zh-CN" dirty="0"/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lang="en-US" altLang="zh-CN" baseline="0" dirty="0"/>
              <a:t>Choose the text you want to show on the nodes and click “OK”.</a:t>
            </a:r>
            <a:endParaRPr lang="en-US" altLang="zh-CN" baseline="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225022-2717-4B81-95BD-7472766735F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altLang="zh-CN" dirty="0"/>
              <a:t>Click on the "</a:t>
            </a:r>
            <a:r>
              <a:rPr lang="en-US" altLang="zh-CN" dirty="0" err="1"/>
              <a:t>Config</a:t>
            </a:r>
            <a:r>
              <a:rPr lang="en-US" altLang="zh-CN" dirty="0"/>
              <a:t>" button in GIS layer panel to display the “Display</a:t>
            </a:r>
            <a:r>
              <a:rPr lang="en-US" altLang="zh-CN" baseline="0" dirty="0"/>
              <a:t> Configuration</a:t>
            </a:r>
            <a:r>
              <a:rPr lang="en-US" altLang="zh-CN" dirty="0"/>
              <a:t>” dialog;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en-US" altLang="zh-CN" baseline="0" dirty="0"/>
              <a:t>Choose the text you want to show on the links and click “OK”.</a:t>
            </a:r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225022-2717-4B81-95BD-7472766735F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225022-2717-4B81-95BD-7472766735F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225022-2717-4B81-95BD-7472766735F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altLang="zh-CN" dirty="0"/>
              <a:t>Choose </a:t>
            </a:r>
            <a:r>
              <a:rPr lang="en-US" altLang="zh-CN" b="1" dirty="0"/>
              <a:t>Link</a:t>
            </a:r>
            <a:r>
              <a:rPr lang="en-US" altLang="zh-CN" dirty="0"/>
              <a:t> layer</a:t>
            </a:r>
            <a:r>
              <a:rPr lang="en-US" altLang="zh-CN" baseline="0" dirty="0"/>
              <a:t> in GIS layer panel;</a:t>
            </a:r>
            <a:endParaRPr lang="en-US" altLang="zh-CN" baseline="0" dirty="0"/>
          </a:p>
          <a:p>
            <a:pPr marL="228600" indent="-228600">
              <a:buAutoNum type="arabicPeriod"/>
            </a:pPr>
            <a:r>
              <a:rPr lang="en-US" altLang="zh-CN" baseline="0" dirty="0"/>
              <a:t>Right-click on the display view and choose “Change Link Type Color” in the pop-up menu;</a:t>
            </a:r>
            <a:endParaRPr lang="en-US" altLang="zh-CN" baseline="0" dirty="0"/>
          </a:p>
          <a:p>
            <a:pPr marL="228600" indent="-228600">
              <a:buAutoNum type="arabicPeriod"/>
            </a:pPr>
            <a:r>
              <a:rPr lang="en-US" altLang="zh-CN" baseline="0" dirty="0"/>
              <a:t>Select the type of link you want to change color of.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225022-2717-4B81-95BD-7472766735F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4. Choose</a:t>
            </a:r>
            <a:r>
              <a:rPr lang="en-US" altLang="zh-CN" baseline="0" dirty="0"/>
              <a:t> the color you want to set to the link type.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225022-2717-4B81-95BD-7472766735F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altLang="zh-CN" dirty="0"/>
              <a:t>Choose </a:t>
            </a:r>
            <a:r>
              <a:rPr lang="en-US" altLang="zh-CN" b="1" dirty="0"/>
              <a:t>Node</a:t>
            </a:r>
            <a:r>
              <a:rPr lang="en-US" altLang="zh-CN" dirty="0"/>
              <a:t> layer</a:t>
            </a:r>
            <a:r>
              <a:rPr lang="en-US" altLang="zh-CN" baseline="0" dirty="0"/>
              <a:t> in GIS layer panel;</a:t>
            </a:r>
            <a:endParaRPr lang="en-US" altLang="zh-CN" baseline="0" dirty="0"/>
          </a:p>
          <a:p>
            <a:pPr marL="228600" indent="-228600">
              <a:buAutoNum type="arabicPeriod"/>
            </a:pPr>
            <a:r>
              <a:rPr lang="en-US" altLang="zh-CN" baseline="0" dirty="0"/>
              <a:t>Right-click on the display view and choose “Change Node Color” in the pop-up menu;</a:t>
            </a:r>
            <a:endParaRPr lang="en-US" altLang="zh-CN" baseline="0" dirty="0"/>
          </a:p>
          <a:p>
            <a:pPr marL="228600" indent="-228600">
              <a:buAutoNum type="arabicPeriod"/>
            </a:pPr>
            <a:r>
              <a:rPr lang="en-US" altLang="zh-CN" dirty="0"/>
              <a:t>Choose</a:t>
            </a:r>
            <a:r>
              <a:rPr lang="en-US" altLang="zh-CN" baseline="0" dirty="0"/>
              <a:t> the color you want to set to the nodes.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225022-2717-4B81-95BD-7472766735F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 to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Project -&gt; 2. Demand</a:t>
            </a:r>
            <a:r>
              <a:rPr lang="en-US" altLang="zh-CN" sz="1200" b="1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Meta Database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lang="en-US" altLang="zh-CN" dirty="0"/>
              <a:t>In OD Demand Table, choose the demand find</a:t>
            </a:r>
            <a:r>
              <a:rPr lang="en-US" altLang="zh-CN" baseline="0" dirty="0"/>
              <a:t> in Demand File List.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225022-2717-4B81-95BD-7472766735F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altLang="zh-CN" dirty="0"/>
              <a:t>Choose </a:t>
            </a:r>
            <a:r>
              <a:rPr lang="en-US" altLang="zh-CN" b="1" dirty="0"/>
              <a:t>Link MOE</a:t>
            </a:r>
            <a:r>
              <a:rPr lang="en-US" altLang="zh-CN" dirty="0"/>
              <a:t> layer</a:t>
            </a:r>
            <a:r>
              <a:rPr lang="en-US" altLang="zh-CN" baseline="0" dirty="0"/>
              <a:t> in GIS layer panel;</a:t>
            </a:r>
            <a:endParaRPr lang="en-US" altLang="zh-CN" baseline="0" dirty="0"/>
          </a:p>
          <a:p>
            <a:pPr marL="228600" indent="-228600">
              <a:buAutoNum type="arabicPeriod"/>
            </a:pPr>
            <a:r>
              <a:rPr lang="en-US" altLang="zh-CN" baseline="0" dirty="0"/>
              <a:t>Choose a link on the display view.</a:t>
            </a:r>
            <a:endParaRPr lang="en-US" altLang="zh-CN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225022-2717-4B81-95BD-7472766735F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can choose different MOEs from drop-down menu.</a:t>
            </a:r>
            <a:endParaRPr lang="en-US" altLang="zh-CN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225022-2717-4B81-95BD-7472766735F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altLang="zh-CN" dirty="0"/>
              <a:t>Choose </a:t>
            </a:r>
            <a:r>
              <a:rPr lang="en-US" altLang="zh-CN" b="1" dirty="0"/>
              <a:t>Link MOE</a:t>
            </a:r>
            <a:r>
              <a:rPr lang="en-US" altLang="zh-CN" dirty="0"/>
              <a:t> layer</a:t>
            </a:r>
            <a:r>
              <a:rPr lang="en-US" altLang="zh-CN" baseline="0" dirty="0"/>
              <a:t> in GIS layer panel;</a:t>
            </a:r>
            <a:endParaRPr lang="en-US" altLang="zh-CN" baseline="0" dirty="0"/>
          </a:p>
          <a:p>
            <a:pPr marL="228600" indent="-228600">
              <a:buAutoNum type="arabicPeriod"/>
            </a:pPr>
            <a:r>
              <a:rPr lang="en-US" altLang="zh-CN" baseline="0" dirty="0"/>
              <a:t>Choose a link on the display view;</a:t>
            </a:r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225022-2717-4B81-95BD-7472766735F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3. Click “MOE (lower plot)”menu in MOE window and choose an MOE to output.</a:t>
            </a:r>
            <a:endParaRPr lang="en-US" altLang="zh-CN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225022-2717-4B81-95BD-7472766735F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lang="en-US" altLang="zh-CN" dirty="0"/>
              <a:t>Check</a:t>
            </a:r>
            <a:r>
              <a:rPr lang="en-US" altLang="zh-CN" baseline="0" dirty="0"/>
              <a:t> the check box of “Path” in GIS layer panel;</a:t>
            </a:r>
            <a:endParaRPr lang="zh-CN" altLang="en-US" dirty="0"/>
          </a:p>
          <a:p>
            <a:pPr marL="228600" indent="-228600">
              <a:buAutoNum type="arabicPeriod"/>
            </a:pPr>
            <a:r>
              <a:rPr lang="en-US" altLang="zh-CN" dirty="0"/>
              <a:t>Click</a:t>
            </a:r>
            <a:r>
              <a:rPr lang="en-US" altLang="zh-CN" baseline="0" dirty="0"/>
              <a:t> on the “Path List” button in the toolbar to open “Path List Dialog” window;</a:t>
            </a:r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225022-2717-4B81-95BD-7472766735F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aseline="0" dirty="0"/>
              <a:t>3. Click on the path in the “Path List” box in the “Path List Dialog” window, and the corresponding path is selected in the display view.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225022-2717-4B81-95BD-7472766735F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Check/</a:t>
            </a:r>
            <a:r>
              <a:rPr lang="en-US" altLang="zh-CN" baseline="0" dirty="0"/>
              <a:t>uncheck the check box of “Grid/Coordinate” in GIS layer panel.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225022-2717-4B81-95BD-7472766735F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225022-2717-4B81-95BD-7472766735F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lang="en-US" altLang="zh-CN" dirty="0"/>
              <a:t>Click</a:t>
            </a:r>
            <a:r>
              <a:rPr lang="en-US" altLang="zh-CN" baseline="0" dirty="0"/>
              <a:t> on the “Summary” button in the toolbar to open “Data Summary Dialog”;</a:t>
            </a:r>
            <a:endParaRPr lang="en-US" altLang="zh-CN" baseline="0" dirty="0"/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lang="en-US" altLang="zh-CN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Choose x and y axis to plot various summary chart.</a:t>
            </a:r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225022-2717-4B81-95BD-7472766735F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lang="en-US" altLang="zh-CN"/>
              <a:t>Choose </a:t>
            </a:r>
            <a:r>
              <a:rPr lang="en-US" altLang="zh-CN" b="1"/>
              <a:t>Link</a:t>
            </a:r>
            <a:r>
              <a:rPr lang="en-US" altLang="zh-CN"/>
              <a:t> layer</a:t>
            </a:r>
            <a:r>
              <a:rPr lang="en-US" altLang="zh-CN" baseline="0"/>
              <a:t> in GIS layer panel;</a:t>
            </a:r>
            <a:endParaRPr lang="en-US" altLang="zh-CN" baseline="0"/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lang="en-US" altLang="zh-CN" baseline="0"/>
              <a:t>Choose “Select Object” button in the toolbar;</a:t>
            </a:r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225022-2717-4B81-95BD-7472766735F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aseline="0" dirty="0"/>
              <a:t>3. Select the link you want to analyze;</a:t>
            </a:r>
            <a:endParaRPr lang="en-US" altLang="zh-CN" baseline="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aseline="0" dirty="0"/>
              <a:t>4. Right-click on the display view and click “Perform Vehicle Statistic Analysis on Selected Link”;</a:t>
            </a:r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225022-2717-4B81-95BD-7472766735F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aseline="0" dirty="0"/>
              <a:t>5. Choose the data for x axis and y axis from the drop-down list.</a:t>
            </a:r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225022-2717-4B81-95BD-7472766735F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lang="en-US" altLang="zh-CN" dirty="0"/>
              <a:t>Click</a:t>
            </a:r>
            <a:r>
              <a:rPr lang="en-US" altLang="zh-CN" baseline="0" dirty="0"/>
              <a:t> on the “Vehicle” button in the toolbar;</a:t>
            </a:r>
            <a:endParaRPr lang="en-US" altLang="zh-CN" baseline="0" dirty="0"/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lang="en-US" altLang="zh-CN" baseline="0" dirty="0"/>
              <a:t>In the “Find/Filter” window, choose the OD information in “1: OD Pair Filter”, click the OD record in the “2: OD List” and click on “Vehicle Data Analysis for Listed OD Pairs”;</a:t>
            </a:r>
            <a:endParaRPr lang="en-US" altLang="zh-CN" baseline="0" dirty="0"/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225022-2717-4B81-95BD-7472766735F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1560" y="4437112"/>
            <a:ext cx="7883153" cy="1362075"/>
          </a:xfrm>
        </p:spPr>
        <p:txBody>
          <a:bodyPr anchor="t">
            <a:normAutofit/>
          </a:bodyPr>
          <a:lstStyle>
            <a:lvl1pPr algn="l">
              <a:defRPr sz="3600" b="1" cap="none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395536" y="2492896"/>
            <a:ext cx="3543534" cy="156966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6350">
              <a:bevelT w="1905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en-US" altLang="zh-CN" sz="9600" b="1" i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38100" dist="39000" dir="4200000" algn="tl">
                    <a:srgbClr val="000000">
                      <a:alpha val="38000"/>
                    </a:srgbClr>
                  </a:outerShdw>
                  <a:reflection blurRad="6350" stA="60000" endA="900" endPos="45000" dist="29997" dir="5400000" sy="-100000" algn="bl" rotWithShape="0"/>
                </a:effectLst>
              </a:rPr>
              <a:t>NeXTA</a:t>
            </a:r>
            <a:endParaRPr lang="zh-CN" altLang="en-US" sz="9600" b="1" i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38100" dist="39000" dir="4200000" algn="tl">
                  <a:srgbClr val="000000">
                    <a:alpha val="38000"/>
                  </a:srgbClr>
                </a:outerShdw>
                <a:reflection blurRad="6350" stA="60000" endA="900" endPos="45000" dist="29997" dir="5400000" sy="-100000" algn="bl" rotWithShape="0"/>
              </a:effectLst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  <a:p>
            <a:pPr lvl="1" eaLnBrk="1" latinLnBrk="0" hangingPunct="1"/>
            <a:r>
              <a:rPr kumimoji="0" lang="en-US"/>
              <a:t>Second level</a:t>
            </a:r>
            <a:endParaRPr kumimoji="0" lang="en-US"/>
          </a:p>
          <a:p>
            <a:pPr lvl="2" eaLnBrk="1" latinLnBrk="0" hangingPunct="1"/>
            <a:r>
              <a:rPr kumimoji="0" lang="en-US"/>
              <a:t>Third level</a:t>
            </a:r>
            <a:endParaRPr kumimoji="0" lang="en-US"/>
          </a:p>
          <a:p>
            <a:pPr lvl="3" eaLnBrk="1" latinLnBrk="0" hangingPunct="1"/>
            <a:r>
              <a:rPr kumimoji="0" lang="en-US"/>
              <a:t>Fourth level</a:t>
            </a:r>
            <a:endParaRPr kumimoji="0" lang="en-US"/>
          </a:p>
          <a:p>
            <a:pPr lvl="4" eaLnBrk="1" latinLnBrk="0" hangingPunct="1"/>
            <a:r>
              <a:rPr kumimoji="0" lang="en-US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 panose="05020102010507070707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3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1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image" Target="../media/image44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r"/>
            <a:r>
              <a:rPr lang="en-US" altLang="zh-CN" b="1" dirty="0"/>
              <a:t>How to Guide: Use </a:t>
            </a:r>
            <a:r>
              <a:rPr lang="en-US" altLang="zh-CN" b="1" dirty="0" err="1"/>
              <a:t>NeXTA</a:t>
            </a:r>
            <a:r>
              <a:rPr lang="en-US" altLang="zh-CN" b="1" dirty="0"/>
              <a:t> Visualization Features  </a:t>
            </a:r>
            <a:endParaRPr lang="zh-CN" altLang="en-US" b="1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to open a data set?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sz="quarter" idx="1"/>
          </p:nvPr>
        </p:nvPicPr>
        <p:blipFill>
          <a:blip r:embed="rId1"/>
          <a:stretch>
            <a:fillRect/>
          </a:stretch>
        </p:blipFill>
        <p:spPr>
          <a:xfrm>
            <a:off x="1038436" y="2194153"/>
            <a:ext cx="7067128" cy="3550193"/>
          </a:xfrm>
          <a:prstGeom prst="rect">
            <a:avLst/>
          </a:prstGeom>
        </p:spPr>
      </p:pic>
      <p:sp>
        <p:nvSpPr>
          <p:cNvPr id="5" name="右箭头 4"/>
          <p:cNvSpPr/>
          <p:nvPr/>
        </p:nvSpPr>
        <p:spPr>
          <a:xfrm>
            <a:off x="827584" y="1628800"/>
            <a:ext cx="792088" cy="349843"/>
          </a:xfrm>
          <a:prstGeom prst="rightArrow">
            <a:avLst>
              <a:gd name="adj1" fmla="val 100000"/>
              <a:gd name="adj2" fmla="val 38662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1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to open a data set?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sz="quarter" idx="1"/>
          </p:nvPr>
        </p:nvPicPr>
        <p:blipFill>
          <a:blip r:embed="rId1"/>
          <a:stretch>
            <a:fillRect/>
          </a:stretch>
        </p:blipFill>
        <p:spPr>
          <a:xfrm>
            <a:off x="947451" y="1417638"/>
            <a:ext cx="7404027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1"/>
            <a:ext cx="8229600" cy="3701008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dirty="0"/>
              <a:t>1. Network-related Display </a:t>
            </a:r>
            <a:endParaRPr lang="zh-CN" altLang="zh-CN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dirty="0"/>
              <a:t>2. Time-dependent Simulation Result Display</a:t>
            </a:r>
            <a:endParaRPr lang="zh-CN" altLang="zh-CN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dirty="0"/>
              <a:t>3. Advanced Analysis Features</a:t>
            </a:r>
            <a:endParaRPr lang="zh-CN" altLang="zh-CN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dirty="0"/>
              <a:t>4. Changing Network Data</a:t>
            </a:r>
            <a:endParaRPr lang="zh-CN" altLang="zh-C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altLang="zh-CN" dirty="0"/>
              <a:t>Network-related Display</a:t>
            </a:r>
            <a:br>
              <a:rPr lang="en-US" altLang="zh-CN" dirty="0"/>
            </a:b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1"/>
          <a:srcRect r="60237" b="86000"/>
          <a:stretch>
            <a:fillRect/>
          </a:stretch>
        </p:blipFill>
        <p:spPr>
          <a:xfrm>
            <a:off x="395535" y="1599658"/>
            <a:ext cx="4873811" cy="965246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How to move a network?</a:t>
            </a:r>
            <a:endParaRPr lang="zh-CN" altLang="en-US" dirty="0"/>
          </a:p>
        </p:txBody>
      </p:sp>
      <p:pic>
        <p:nvPicPr>
          <p:cNvPr id="8" name="内容占位符 7"/>
          <p:cNvPicPr>
            <a:picLocks noGrp="1" noChangeAspect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872" y="2924471"/>
            <a:ext cx="5527022" cy="2901686"/>
          </a:xfrm>
        </p:spPr>
      </p:pic>
      <p:cxnSp>
        <p:nvCxnSpPr>
          <p:cNvPr id="6" name="直接箭头连接符 5"/>
          <p:cNvCxnSpPr/>
          <p:nvPr/>
        </p:nvCxnSpPr>
        <p:spPr>
          <a:xfrm flipH="1" flipV="1">
            <a:off x="1259632" y="2204864"/>
            <a:ext cx="2448272" cy="86409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to use GIS layer panel?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518864" y="1888232"/>
            <a:ext cx="8229600" cy="1396752"/>
          </a:xfrm>
        </p:spPr>
        <p:txBody>
          <a:bodyPr/>
          <a:lstStyle/>
          <a:p>
            <a:r>
              <a:rPr lang="en-US" altLang="zh-CN" dirty="0"/>
              <a:t>Link layer is selected.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55976" y="1700808"/>
            <a:ext cx="2489204" cy="44468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t="2257" r="59839" b="87666"/>
          <a:stretch>
            <a:fillRect/>
          </a:stretch>
        </p:blipFill>
        <p:spPr>
          <a:xfrm>
            <a:off x="654305" y="1916832"/>
            <a:ext cx="5095487" cy="719133"/>
          </a:xfrm>
          <a:prstGeom prst="rect">
            <a:avLst/>
          </a:prstGeom>
        </p:spPr>
      </p:pic>
      <p:pic>
        <p:nvPicPr>
          <p:cNvPr id="8" name="内容占位符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872" y="2924471"/>
            <a:ext cx="5527022" cy="290168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How to reset the network display?</a:t>
            </a:r>
            <a:endParaRPr lang="zh-CN" altLang="en-US" dirty="0"/>
          </a:p>
        </p:txBody>
      </p:sp>
      <p:cxnSp>
        <p:nvCxnSpPr>
          <p:cNvPr id="7" name="直接箭头连接符 6"/>
          <p:cNvCxnSpPr/>
          <p:nvPr/>
        </p:nvCxnSpPr>
        <p:spPr>
          <a:xfrm flipH="1" flipV="1">
            <a:off x="2481968" y="2377385"/>
            <a:ext cx="1440160" cy="40283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/>
          <a:srcRect t="2508" r="61025" b="86399"/>
          <a:stretch>
            <a:fillRect/>
          </a:stretch>
        </p:blipFill>
        <p:spPr>
          <a:xfrm>
            <a:off x="4788024" y="1681123"/>
            <a:ext cx="3771442" cy="60374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/>
          <a:srcRect t="3319" r="61812" b="87498"/>
          <a:stretch>
            <a:fillRect/>
          </a:stretch>
        </p:blipFill>
        <p:spPr>
          <a:xfrm>
            <a:off x="108361" y="1681124"/>
            <a:ext cx="4463639" cy="60374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How to zoom in and zoom out?</a:t>
            </a:r>
            <a:endParaRPr lang="zh-CN" altLang="en-US" dirty="0"/>
          </a:p>
        </p:txBody>
      </p:sp>
      <p:cxnSp>
        <p:nvCxnSpPr>
          <p:cNvPr id="7" name="直接箭头连接符 6"/>
          <p:cNvCxnSpPr/>
          <p:nvPr/>
        </p:nvCxnSpPr>
        <p:spPr>
          <a:xfrm flipH="1" flipV="1">
            <a:off x="1907704" y="2090466"/>
            <a:ext cx="2448272" cy="97849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V="1">
            <a:off x="4499992" y="2057240"/>
            <a:ext cx="1872208" cy="101172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10" name="内容占位符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872" y="2924471"/>
            <a:ext cx="5527022" cy="290168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How to increase/decrease the size of node?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55976" y="1700808"/>
            <a:ext cx="2489204" cy="4446816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4355976" y="1700808"/>
            <a:ext cx="792088" cy="4320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1456318"/>
            <a:ext cx="4481240" cy="131607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to show node label?</a:t>
            </a:r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3272444" y="1340768"/>
            <a:ext cx="5680577" cy="1728658"/>
          </a:xfrm>
          <a:prstGeom prst="rect">
            <a:avLst/>
          </a:prstGeom>
        </p:spPr>
      </p:pic>
      <p:sp>
        <p:nvSpPr>
          <p:cNvPr id="8" name="右箭头 7"/>
          <p:cNvSpPr/>
          <p:nvPr/>
        </p:nvSpPr>
        <p:spPr>
          <a:xfrm>
            <a:off x="783531" y="1456318"/>
            <a:ext cx="792088" cy="349843"/>
          </a:xfrm>
          <a:prstGeom prst="rightArrow">
            <a:avLst>
              <a:gd name="adj1" fmla="val 100000"/>
              <a:gd name="adj2" fmla="val 38662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右箭头 8"/>
          <p:cNvSpPr/>
          <p:nvPr/>
        </p:nvSpPr>
        <p:spPr>
          <a:xfrm>
            <a:off x="2987824" y="1772816"/>
            <a:ext cx="792088" cy="349843"/>
          </a:xfrm>
          <a:prstGeom prst="rightArrow">
            <a:avLst>
              <a:gd name="adj1" fmla="val 100000"/>
              <a:gd name="adj2" fmla="val 38662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894677" y="3007150"/>
            <a:ext cx="5908492" cy="3456384"/>
            <a:chOff x="2185416" y="2441507"/>
            <a:chExt cx="6119432" cy="3579781"/>
          </a:xfrm>
        </p:grpSpPr>
        <p:pic>
          <p:nvPicPr>
            <p:cNvPr id="6146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85416" y="2441507"/>
              <a:ext cx="6119432" cy="3579781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矩形 9"/>
            <p:cNvSpPr/>
            <p:nvPr/>
          </p:nvSpPr>
          <p:spPr>
            <a:xfrm>
              <a:off x="2289349" y="2749178"/>
              <a:ext cx="1346547" cy="219199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glow rad="38100">
                <a:schemeClr val="bg1">
                  <a:alpha val="70000"/>
                </a:schemeClr>
              </a:glo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831" y="1988840"/>
            <a:ext cx="2378177" cy="4248472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1906446" y="2046152"/>
            <a:ext cx="699312" cy="412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4229" y="1430072"/>
            <a:ext cx="4666453" cy="201487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to show link label?</a:t>
            </a:r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783531" y="1944464"/>
            <a:ext cx="1857375" cy="3860800"/>
            <a:chOff x="3563888" y="1844824"/>
            <a:chExt cx="1857375" cy="3860800"/>
          </a:xfrm>
        </p:grpSpPr>
        <p:pic>
          <p:nvPicPr>
            <p:cNvPr id="4" name="Picture 2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63888" y="1844824"/>
              <a:ext cx="1857375" cy="386080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矩形 4"/>
            <p:cNvSpPr/>
            <p:nvPr/>
          </p:nvSpPr>
          <p:spPr>
            <a:xfrm>
              <a:off x="4781675" y="1912070"/>
              <a:ext cx="576063" cy="2880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glow rad="101600">
                <a:schemeClr val="bg1">
                  <a:alpha val="60000"/>
                </a:schemeClr>
              </a:glo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右箭头 7"/>
          <p:cNvSpPr/>
          <p:nvPr/>
        </p:nvSpPr>
        <p:spPr>
          <a:xfrm>
            <a:off x="783531" y="1456318"/>
            <a:ext cx="792088" cy="349843"/>
          </a:xfrm>
          <a:prstGeom prst="rightArrow">
            <a:avLst>
              <a:gd name="adj1" fmla="val 100000"/>
              <a:gd name="adj2" fmla="val 38662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右箭头 8"/>
          <p:cNvSpPr/>
          <p:nvPr/>
        </p:nvSpPr>
        <p:spPr>
          <a:xfrm>
            <a:off x="3059832" y="1772816"/>
            <a:ext cx="792088" cy="349843"/>
          </a:xfrm>
          <a:prstGeom prst="rightArrow">
            <a:avLst>
              <a:gd name="adj1" fmla="val 100000"/>
              <a:gd name="adj2" fmla="val 38662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9435" y="3142531"/>
            <a:ext cx="6199479" cy="3440831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4224537" y="3429000"/>
            <a:ext cx="2507703" cy="2232248"/>
          </a:xfrm>
          <a:prstGeom prst="rect">
            <a:avLst/>
          </a:prstGeom>
          <a:noFill/>
          <a:ln>
            <a:solidFill>
              <a:srgbClr val="FF0000"/>
            </a:solidFill>
          </a:ln>
          <a:effectLst>
            <a:glow rad="101600">
              <a:schemeClr val="bg1">
                <a:alpha val="6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How to increase/decrease offset between links?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44500" y="1600200"/>
            <a:ext cx="8229600" cy="4525963"/>
          </a:xfrm>
        </p:spPr>
        <p:txBody>
          <a:bodyPr/>
          <a:lstStyle/>
          <a:p>
            <a:endParaRPr lang="zh-CN" alt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69" r="4788"/>
          <a:stretch>
            <a:fillRect/>
          </a:stretch>
        </p:blipFill>
        <p:spPr bwMode="auto">
          <a:xfrm>
            <a:off x="520700" y="1772816"/>
            <a:ext cx="3721100" cy="94238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5836" y="1793289"/>
            <a:ext cx="3822700" cy="92190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直接箭头连接符 6"/>
          <p:cNvCxnSpPr/>
          <p:nvPr/>
        </p:nvCxnSpPr>
        <p:spPr>
          <a:xfrm flipH="1" flipV="1">
            <a:off x="2097692" y="2204864"/>
            <a:ext cx="2042260" cy="93610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V="1">
            <a:off x="4241800" y="2244006"/>
            <a:ext cx="1482328" cy="89696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9" name="内容占位符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1365" y="3131638"/>
            <a:ext cx="5527022" cy="290168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How to increase the bandwidth of a link?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78" t="4476"/>
          <a:stretch>
            <a:fillRect/>
          </a:stretch>
        </p:blipFill>
        <p:spPr bwMode="auto">
          <a:xfrm>
            <a:off x="685800" y="1796631"/>
            <a:ext cx="3625652" cy="89773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9" t="2370" r="70372" b="86519"/>
          <a:stretch>
            <a:fillRect/>
          </a:stretch>
        </p:blipFill>
        <p:spPr bwMode="auto">
          <a:xfrm>
            <a:off x="4688283" y="1771649"/>
            <a:ext cx="3340101" cy="95250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直接箭头连接符 6"/>
          <p:cNvCxnSpPr/>
          <p:nvPr/>
        </p:nvCxnSpPr>
        <p:spPr>
          <a:xfrm flipH="1" flipV="1">
            <a:off x="1979712" y="2247899"/>
            <a:ext cx="2160240" cy="88487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V="1">
            <a:off x="4139952" y="2245496"/>
            <a:ext cx="1512168" cy="90033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9" name="内容占位符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5528" y="2936026"/>
            <a:ext cx="5527022" cy="290168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854" y="2518717"/>
            <a:ext cx="1895475" cy="319432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How to change link color?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zh-CN" altLang="en-US" dirty="0"/>
          </a:p>
        </p:txBody>
      </p:sp>
      <p:grpSp>
        <p:nvGrpSpPr>
          <p:cNvPr id="7" name="组合 6"/>
          <p:cNvGrpSpPr/>
          <p:nvPr/>
        </p:nvGrpSpPr>
        <p:grpSpPr>
          <a:xfrm>
            <a:off x="2228651" y="3213614"/>
            <a:ext cx="6231781" cy="2519642"/>
            <a:chOff x="1821880" y="3068960"/>
            <a:chExt cx="6231781" cy="2519642"/>
          </a:xfrm>
        </p:grpSpPr>
        <p:pic>
          <p:nvPicPr>
            <p:cNvPr id="9218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21880" y="3068960"/>
              <a:ext cx="3733800" cy="154305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19" name="Picture 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00961" y="4064602"/>
              <a:ext cx="2552700" cy="152400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" name="右箭头 7"/>
          <p:cNvSpPr/>
          <p:nvPr/>
        </p:nvSpPr>
        <p:spPr>
          <a:xfrm>
            <a:off x="899592" y="1456318"/>
            <a:ext cx="792088" cy="349843"/>
          </a:xfrm>
          <a:prstGeom prst="rightArrow">
            <a:avLst>
              <a:gd name="adj1" fmla="val 100000"/>
              <a:gd name="adj2" fmla="val 38662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右箭头 8"/>
          <p:cNvSpPr/>
          <p:nvPr/>
        </p:nvSpPr>
        <p:spPr>
          <a:xfrm>
            <a:off x="3491880" y="2420888"/>
            <a:ext cx="792088" cy="349843"/>
          </a:xfrm>
          <a:prstGeom prst="rightArrow">
            <a:avLst>
              <a:gd name="adj1" fmla="val 100000"/>
              <a:gd name="adj2" fmla="val 38662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6391994" y="3501008"/>
            <a:ext cx="792088" cy="349843"/>
          </a:xfrm>
          <a:prstGeom prst="rightArrow">
            <a:avLst>
              <a:gd name="adj1" fmla="val 100000"/>
              <a:gd name="adj2" fmla="val 38662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to change link color?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2579340"/>
            <a:ext cx="4667250" cy="30099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5" name="右箭头 4"/>
          <p:cNvSpPr/>
          <p:nvPr/>
        </p:nvSpPr>
        <p:spPr>
          <a:xfrm>
            <a:off x="1403648" y="1772816"/>
            <a:ext cx="792088" cy="349843"/>
          </a:xfrm>
          <a:prstGeom prst="rightArrow">
            <a:avLst>
              <a:gd name="adj1" fmla="val 100000"/>
              <a:gd name="adj2" fmla="val 38662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1518" y="2297430"/>
            <a:ext cx="2543175" cy="31623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to change node color?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右箭头 6"/>
          <p:cNvSpPr/>
          <p:nvPr/>
        </p:nvSpPr>
        <p:spPr>
          <a:xfrm>
            <a:off x="683568" y="1494981"/>
            <a:ext cx="792088" cy="349843"/>
          </a:xfrm>
          <a:prstGeom prst="rightArrow">
            <a:avLst>
              <a:gd name="adj1" fmla="val 100000"/>
              <a:gd name="adj2" fmla="val 38662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右箭头 7"/>
          <p:cNvSpPr/>
          <p:nvPr/>
        </p:nvSpPr>
        <p:spPr>
          <a:xfrm>
            <a:off x="3059832" y="2276872"/>
            <a:ext cx="792088" cy="349843"/>
          </a:xfrm>
          <a:prstGeom prst="rightArrow">
            <a:avLst>
              <a:gd name="adj1" fmla="val 100000"/>
              <a:gd name="adj2" fmla="val 38662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右箭头 8"/>
          <p:cNvSpPr/>
          <p:nvPr/>
        </p:nvSpPr>
        <p:spPr>
          <a:xfrm>
            <a:off x="7308304" y="2924944"/>
            <a:ext cx="792088" cy="349843"/>
          </a:xfrm>
          <a:prstGeom prst="rightArrow">
            <a:avLst>
              <a:gd name="adj1" fmla="val 100000"/>
              <a:gd name="adj2" fmla="val 38662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2"/>
          <a:srcRect l="32094" t="38518" r="46063" b="41600"/>
          <a:stretch>
            <a:fillRect/>
          </a:stretch>
        </p:blipFill>
        <p:spPr>
          <a:xfrm>
            <a:off x="2204268" y="3222500"/>
            <a:ext cx="3015804" cy="1544025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3526932"/>
            <a:ext cx="3816424" cy="246120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4" name="矩形 3"/>
          <p:cNvSpPr/>
          <p:nvPr/>
        </p:nvSpPr>
        <p:spPr>
          <a:xfrm>
            <a:off x="2245953" y="3733800"/>
            <a:ext cx="1533959" cy="1992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to show OD matrix?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" name="右箭头 9"/>
          <p:cNvSpPr/>
          <p:nvPr/>
        </p:nvSpPr>
        <p:spPr>
          <a:xfrm>
            <a:off x="539552" y="1422973"/>
            <a:ext cx="792088" cy="349843"/>
          </a:xfrm>
          <a:prstGeom prst="rightArrow">
            <a:avLst>
              <a:gd name="adj1" fmla="val 100000"/>
              <a:gd name="adj2" fmla="val 38662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4860032" y="1844824"/>
            <a:ext cx="792088" cy="349843"/>
          </a:xfrm>
          <a:prstGeom prst="rightArrow">
            <a:avLst>
              <a:gd name="adj1" fmla="val 100000"/>
              <a:gd name="adj2" fmla="val 38662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r="58884" b="82949"/>
          <a:stretch>
            <a:fillRect/>
          </a:stretch>
        </p:blipFill>
        <p:spPr>
          <a:xfrm>
            <a:off x="323528" y="1812126"/>
            <a:ext cx="3816424" cy="8902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530" y="3489053"/>
            <a:ext cx="7499118" cy="170560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How to show link MOE?</a:t>
            </a:r>
            <a:endParaRPr lang="zh-CN" altLang="en-US" dirty="0"/>
          </a:p>
        </p:txBody>
      </p:sp>
      <p:sp>
        <p:nvSpPr>
          <p:cNvPr id="10" name="右箭头 9"/>
          <p:cNvSpPr/>
          <p:nvPr/>
        </p:nvSpPr>
        <p:spPr>
          <a:xfrm>
            <a:off x="755576" y="1422973"/>
            <a:ext cx="792088" cy="349843"/>
          </a:xfrm>
          <a:prstGeom prst="rightArrow">
            <a:avLst>
              <a:gd name="adj1" fmla="val 100000"/>
              <a:gd name="adj2" fmla="val 38662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3275856" y="1916832"/>
            <a:ext cx="792088" cy="349843"/>
          </a:xfrm>
          <a:prstGeom prst="rightArrow">
            <a:avLst>
              <a:gd name="adj1" fmla="val 100000"/>
              <a:gd name="adj2" fmla="val 38662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768" y="2492896"/>
            <a:ext cx="8748464" cy="339622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How to show link MOE?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l="19288" t="26200" r="11413" b="23400"/>
          <a:stretch>
            <a:fillRect/>
          </a:stretch>
        </p:blipFill>
        <p:spPr>
          <a:xfrm>
            <a:off x="914400" y="2204864"/>
            <a:ext cx="7216802" cy="295232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How to show two MOEs simultaneously?</a:t>
            </a:r>
            <a:endParaRPr lang="zh-CN" altLang="en-US" dirty="0"/>
          </a:p>
        </p:txBody>
      </p:sp>
      <p:sp>
        <p:nvSpPr>
          <p:cNvPr id="10" name="右箭头 9"/>
          <p:cNvSpPr/>
          <p:nvPr/>
        </p:nvSpPr>
        <p:spPr>
          <a:xfrm>
            <a:off x="755576" y="1628800"/>
            <a:ext cx="792088" cy="349843"/>
          </a:xfrm>
          <a:prstGeom prst="rightArrow">
            <a:avLst>
              <a:gd name="adj1" fmla="val 100000"/>
              <a:gd name="adj2" fmla="val 38662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3275856" y="1999037"/>
            <a:ext cx="792088" cy="349843"/>
          </a:xfrm>
          <a:prstGeom prst="rightArrow">
            <a:avLst>
              <a:gd name="adj1" fmla="val 100000"/>
              <a:gd name="adj2" fmla="val 38662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768" y="2492896"/>
            <a:ext cx="8748464" cy="339622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How to show two MOEs simultaneously?</a:t>
            </a:r>
            <a:endParaRPr lang="zh-CN" altLang="en-US" dirty="0"/>
          </a:p>
        </p:txBody>
      </p:sp>
      <p:sp>
        <p:nvSpPr>
          <p:cNvPr id="10" name="右箭头 9"/>
          <p:cNvSpPr/>
          <p:nvPr/>
        </p:nvSpPr>
        <p:spPr>
          <a:xfrm>
            <a:off x="755576" y="1638997"/>
            <a:ext cx="792088" cy="349843"/>
          </a:xfrm>
          <a:prstGeom prst="rightArrow">
            <a:avLst>
              <a:gd name="adj1" fmla="val 100000"/>
              <a:gd name="adj2" fmla="val 38662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/>
          <a:srcRect l="20075" t="27600" r="20863" b="26200"/>
          <a:stretch>
            <a:fillRect/>
          </a:stretch>
        </p:blipFill>
        <p:spPr>
          <a:xfrm>
            <a:off x="539552" y="2196812"/>
            <a:ext cx="5400600" cy="237626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0634" y="4781048"/>
            <a:ext cx="5619035" cy="193219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How to select a path?</a:t>
            </a:r>
            <a:endParaRPr lang="zh-CN" altLang="en-US" dirty="0"/>
          </a:p>
        </p:txBody>
      </p:sp>
      <p:sp>
        <p:nvSpPr>
          <p:cNvPr id="8" name="右箭头 7"/>
          <p:cNvSpPr/>
          <p:nvPr/>
        </p:nvSpPr>
        <p:spPr>
          <a:xfrm>
            <a:off x="1115616" y="1649234"/>
            <a:ext cx="792088" cy="349843"/>
          </a:xfrm>
          <a:prstGeom prst="rightArrow">
            <a:avLst>
              <a:gd name="adj1" fmla="val 100000"/>
              <a:gd name="adj2" fmla="val 38662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3725793" y="2053103"/>
            <a:ext cx="792088" cy="349843"/>
          </a:xfrm>
          <a:prstGeom prst="rightArrow">
            <a:avLst>
              <a:gd name="adj1" fmla="val 100000"/>
              <a:gd name="adj2" fmla="val 38662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110" y="2503666"/>
            <a:ext cx="1743075" cy="27051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/>
          <a:srcRect l="36613" t="10895" r="38975" b="79399"/>
          <a:stretch>
            <a:fillRect/>
          </a:stretch>
        </p:blipFill>
        <p:spPr>
          <a:xfrm>
            <a:off x="3995935" y="3323812"/>
            <a:ext cx="4012353" cy="89727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How to select a path?</a:t>
            </a:r>
            <a:endParaRPr lang="zh-CN" altLang="en-US" dirty="0"/>
          </a:p>
        </p:txBody>
      </p:sp>
      <p:sp>
        <p:nvSpPr>
          <p:cNvPr id="13" name="右箭头 12"/>
          <p:cNvSpPr/>
          <p:nvPr/>
        </p:nvSpPr>
        <p:spPr>
          <a:xfrm>
            <a:off x="1187624" y="1783013"/>
            <a:ext cx="792088" cy="349843"/>
          </a:xfrm>
          <a:prstGeom prst="rightArrow">
            <a:avLst>
              <a:gd name="adj1" fmla="val 100000"/>
              <a:gd name="adj2" fmla="val 38662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570881"/>
            <a:ext cx="2628900" cy="11239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40" y="2870657"/>
            <a:ext cx="7452320" cy="337086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to show/hide grid?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567338"/>
            <a:ext cx="2124075" cy="28194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8001" y="2162395"/>
            <a:ext cx="2785198" cy="157140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3401" y="4448395"/>
            <a:ext cx="3805111" cy="203606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zh-CN" dirty="0"/>
              <a:t>Advanced Analysis Features</a:t>
            </a:r>
            <a:br>
              <a:rPr lang="en-US" altLang="zh-CN" dirty="0"/>
            </a:br>
            <a:endParaRPr lang="zh-CN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How to do overall network statistics? </a:t>
            </a:r>
            <a:endParaRPr lang="zh-CN" altLang="en-US" dirty="0"/>
          </a:p>
        </p:txBody>
      </p:sp>
      <p:sp>
        <p:nvSpPr>
          <p:cNvPr id="5" name="右箭头 4"/>
          <p:cNvSpPr/>
          <p:nvPr/>
        </p:nvSpPr>
        <p:spPr>
          <a:xfrm>
            <a:off x="783531" y="1783013"/>
            <a:ext cx="792088" cy="349843"/>
          </a:xfrm>
          <a:prstGeom prst="rightArrow">
            <a:avLst>
              <a:gd name="adj1" fmla="val 100000"/>
              <a:gd name="adj2" fmla="val 38662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右箭头 5"/>
          <p:cNvSpPr/>
          <p:nvPr/>
        </p:nvSpPr>
        <p:spPr>
          <a:xfrm>
            <a:off x="3542184" y="2476209"/>
            <a:ext cx="792088" cy="349843"/>
          </a:xfrm>
          <a:prstGeom prst="rightArrow">
            <a:avLst>
              <a:gd name="adj1" fmla="val 100000"/>
              <a:gd name="adj2" fmla="val 38662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683569" y="2195729"/>
            <a:ext cx="2669232" cy="867261"/>
            <a:chOff x="683569" y="2385165"/>
            <a:chExt cx="2669232" cy="867261"/>
          </a:xfrm>
        </p:grpSpPr>
        <p:pic>
          <p:nvPicPr>
            <p:cNvPr id="4098" name="Picture 2"/>
            <p:cNvPicPr>
              <a:picLocks noChangeAspect="1" noChangeArrowheads="1"/>
            </p:cNvPicPr>
            <p:nvPr/>
          </p:nvPicPr>
          <p:blipFill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818" r="7353"/>
            <a:stretch>
              <a:fillRect/>
            </a:stretch>
          </p:blipFill>
          <p:spPr bwMode="auto">
            <a:xfrm>
              <a:off x="683569" y="2385165"/>
              <a:ext cx="2669232" cy="867261"/>
            </a:xfrm>
            <a:prstGeom prst="rect">
              <a:avLst/>
            </a:prstGeom>
            <a:noFill/>
            <a:ln>
              <a:noFill/>
            </a:ln>
            <a:effectLst>
              <a:softEdge rad="31750"/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矩形 11"/>
            <p:cNvSpPr/>
            <p:nvPr/>
          </p:nvSpPr>
          <p:spPr>
            <a:xfrm>
              <a:off x="1798375" y="2465738"/>
              <a:ext cx="666710" cy="39981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glow rad="101600">
                <a:schemeClr val="bg1">
                  <a:alpha val="60000"/>
                </a:schemeClr>
              </a:glo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4314" y="3073269"/>
            <a:ext cx="5931198" cy="2956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to select link analysis?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2806" y="2244480"/>
            <a:ext cx="5778388" cy="4294032"/>
          </a:xfrm>
          <a:prstGeom prst="rect">
            <a:avLst/>
          </a:prstGeom>
        </p:spPr>
      </p:pic>
      <p:sp>
        <p:nvSpPr>
          <p:cNvPr id="15" name="右箭头 14"/>
          <p:cNvSpPr/>
          <p:nvPr/>
        </p:nvSpPr>
        <p:spPr>
          <a:xfrm>
            <a:off x="1763688" y="1628334"/>
            <a:ext cx="792088" cy="349843"/>
          </a:xfrm>
          <a:prstGeom prst="rightArrow">
            <a:avLst>
              <a:gd name="adj1" fmla="val 100000"/>
              <a:gd name="adj2" fmla="val 38662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右箭头 14"/>
          <p:cNvSpPr/>
          <p:nvPr/>
        </p:nvSpPr>
        <p:spPr>
          <a:xfrm>
            <a:off x="5524671" y="1621710"/>
            <a:ext cx="792088" cy="349843"/>
          </a:xfrm>
          <a:prstGeom prst="rightArrow">
            <a:avLst>
              <a:gd name="adj1" fmla="val 100000"/>
              <a:gd name="adj2" fmla="val 38662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to select link analysis?</a:t>
            </a:r>
            <a:endParaRPr lang="zh-CN" altLang="en-US" dirty="0"/>
          </a:p>
        </p:txBody>
      </p:sp>
      <p:sp>
        <p:nvSpPr>
          <p:cNvPr id="15" name="右箭头 14"/>
          <p:cNvSpPr/>
          <p:nvPr/>
        </p:nvSpPr>
        <p:spPr>
          <a:xfrm>
            <a:off x="1115616" y="1978643"/>
            <a:ext cx="792088" cy="349843"/>
          </a:xfrm>
          <a:prstGeom prst="rightArrow">
            <a:avLst>
              <a:gd name="adj1" fmla="val 100000"/>
              <a:gd name="adj2" fmla="val 38662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3429000"/>
            <a:ext cx="3888432" cy="16069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右箭头 15"/>
          <p:cNvSpPr/>
          <p:nvPr/>
        </p:nvSpPr>
        <p:spPr>
          <a:xfrm>
            <a:off x="5020642" y="2021379"/>
            <a:ext cx="792088" cy="349843"/>
          </a:xfrm>
          <a:prstGeom prst="rightArrow">
            <a:avLst>
              <a:gd name="adj1" fmla="val 100000"/>
              <a:gd name="adj2" fmla="val 38662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3140968"/>
            <a:ext cx="3731009" cy="220939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to select link analysis?</a:t>
            </a:r>
            <a:endParaRPr lang="zh-CN" altLang="en-US" dirty="0"/>
          </a:p>
        </p:txBody>
      </p:sp>
      <p:grpSp>
        <p:nvGrpSpPr>
          <p:cNvPr id="3" name="组合 2"/>
          <p:cNvGrpSpPr/>
          <p:nvPr/>
        </p:nvGrpSpPr>
        <p:grpSpPr>
          <a:xfrm>
            <a:off x="827584" y="2148998"/>
            <a:ext cx="6861059" cy="4232330"/>
            <a:chOff x="189210" y="1412776"/>
            <a:chExt cx="8982075" cy="5540705"/>
          </a:xfrm>
        </p:grpSpPr>
        <p:pic>
          <p:nvPicPr>
            <p:cNvPr id="2052" name="Picture 4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9210" y="1412776"/>
              <a:ext cx="8982075" cy="447675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8845" y="1983514"/>
              <a:ext cx="1876425" cy="3486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75" name="Picture 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8959" y="1981431"/>
              <a:ext cx="2286000" cy="4972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1" name="右箭头 10"/>
          <p:cNvSpPr/>
          <p:nvPr/>
        </p:nvSpPr>
        <p:spPr>
          <a:xfrm>
            <a:off x="832340" y="1554289"/>
            <a:ext cx="792088" cy="349843"/>
          </a:xfrm>
          <a:prstGeom prst="rightArrow">
            <a:avLst>
              <a:gd name="adj1" fmla="val 100000"/>
              <a:gd name="adj2" fmla="val 38662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How to select OD analysis?</a:t>
            </a:r>
            <a:endParaRPr lang="zh-CN" altLang="en-US" dirty="0"/>
          </a:p>
        </p:txBody>
      </p:sp>
      <p:sp>
        <p:nvSpPr>
          <p:cNvPr id="10" name="右箭头 9"/>
          <p:cNvSpPr/>
          <p:nvPr/>
        </p:nvSpPr>
        <p:spPr>
          <a:xfrm>
            <a:off x="1025441" y="1705672"/>
            <a:ext cx="792088" cy="349843"/>
          </a:xfrm>
          <a:prstGeom prst="rightArrow">
            <a:avLst>
              <a:gd name="adj1" fmla="val 100000"/>
              <a:gd name="adj2" fmla="val 38662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3491880" y="1980332"/>
            <a:ext cx="792088" cy="349843"/>
          </a:xfrm>
          <a:prstGeom prst="rightArrow">
            <a:avLst>
              <a:gd name="adj1" fmla="val 100000"/>
              <a:gd name="adj2" fmla="val 38662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588" y="2631919"/>
            <a:ext cx="4464496" cy="32068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251" y="2324632"/>
            <a:ext cx="2858556" cy="840267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0</TotalTime>
  <Words>1067</Words>
  <Application>WPS Presentation</Application>
  <PresentationFormat>全屏显示(4:3)</PresentationFormat>
  <Paragraphs>131</Paragraphs>
  <Slides>31</Slides>
  <Notes>68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2" baseType="lpstr">
      <vt:lpstr>Arial</vt:lpstr>
      <vt:lpstr>SimSun</vt:lpstr>
      <vt:lpstr>Wingdings</vt:lpstr>
      <vt:lpstr>Wingdings 2</vt:lpstr>
      <vt:lpstr>Perpetua</vt:lpstr>
      <vt:lpstr>Franklin Gothic Book</vt:lpstr>
      <vt:lpstr>Microsoft YaHei</vt:lpstr>
      <vt:lpstr>Arial Unicode MS</vt:lpstr>
      <vt:lpstr>Calibri</vt:lpstr>
      <vt:lpstr>幼圆</vt:lpstr>
      <vt:lpstr>Equity</vt:lpstr>
      <vt:lpstr>How to Guide: Use NeXTA Visualization Features  </vt:lpstr>
      <vt:lpstr>How to open a data set?</vt:lpstr>
      <vt:lpstr>How to open a data set?</vt:lpstr>
      <vt:lpstr>Outline</vt:lpstr>
      <vt:lpstr>Network-related Display </vt:lpstr>
      <vt:lpstr>How to move a network?</vt:lpstr>
      <vt:lpstr>How to use GIS layer panel?</vt:lpstr>
      <vt:lpstr>How to reset the network display?</vt:lpstr>
      <vt:lpstr>How to zoom in and zoom out?</vt:lpstr>
      <vt:lpstr>How to increase/decrease the size of node?</vt:lpstr>
      <vt:lpstr>How to show node label?</vt:lpstr>
      <vt:lpstr>How to show link label?</vt:lpstr>
      <vt:lpstr>How to increase/decrease offset between links?</vt:lpstr>
      <vt:lpstr>How to increase the bandwidth of a link?</vt:lpstr>
      <vt:lpstr>How to change link color?</vt:lpstr>
      <vt:lpstr>How to change link color?</vt:lpstr>
      <vt:lpstr>How to change node color?</vt:lpstr>
      <vt:lpstr>How to show OD matrix?</vt:lpstr>
      <vt:lpstr>How to show link MOE?</vt:lpstr>
      <vt:lpstr>How to show link MOE?</vt:lpstr>
      <vt:lpstr>How to show two MOEs simultaneously?</vt:lpstr>
      <vt:lpstr>How to show two MOEs simultaneously?</vt:lpstr>
      <vt:lpstr>How to select a path?</vt:lpstr>
      <vt:lpstr>How to select a path?</vt:lpstr>
      <vt:lpstr>How to show/hide grid?</vt:lpstr>
      <vt:lpstr>Advanced Analysis Features </vt:lpstr>
      <vt:lpstr>How to do overall network statistics? </vt:lpstr>
      <vt:lpstr>How to select link analysis?</vt:lpstr>
      <vt:lpstr>How to select link analysis?</vt:lpstr>
      <vt:lpstr>How to select link analysis?</vt:lpstr>
      <vt:lpstr>How to select OD analysis?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 II</dc:title>
  <dc:creator>tonglu</dc:creator>
  <cp:lastModifiedBy>Xuesong Zhou</cp:lastModifiedBy>
  <cp:revision>270</cp:revision>
  <dcterms:created xsi:type="dcterms:W3CDTF">2014-02-26T03:39:00Z</dcterms:created>
  <dcterms:modified xsi:type="dcterms:W3CDTF">2020-07-08T00:52:19Z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1033-11.2.0.9453</vt:lpwstr>
  </property>
</Properties>
</file>